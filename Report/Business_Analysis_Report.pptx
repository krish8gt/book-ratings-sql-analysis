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71" r:id="rId15"/>
    <p:sldId id="269" r:id="rId16"/>
    <p:sldId id="275" r:id="rId17"/>
    <p:sldId id="273" r:id="rId18"/>
    <p:sldId id="274" r:id="rId19"/>
    <p:sldId id="272" r:id="rId20"/>
    <p:sldId id="278" r:id="rId21"/>
    <p:sldId id="277" r:id="rId22"/>
    <p:sldId id="276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395" y="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User Engagement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706429169944177"/>
          <c:y val="0.11441856942638554"/>
          <c:w val="0.86488470390036254"/>
          <c:h val="0.7367118890317083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Active Users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5460443845936338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58,128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2A0-40F8-929B-892CA1964EBD}"/>
                </c:ext>
              </c:extLst>
            </c:dLbl>
            <c:dLbl>
              <c:idx val="1"/>
              <c:layout>
                <c:manualLayout>
                  <c:x val="1.5666289736802869E-2"/>
                  <c:y val="-1.0817807524303509E-16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8,884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2A0-40F8-929B-892CA1964EBD}"/>
                </c:ext>
              </c:extLst>
            </c:dLbl>
            <c:dLbl>
              <c:idx val="2"/>
              <c:layout>
                <c:manualLayout>
                  <c:x val="1.3840740116093967E-3"/>
                  <c:y val="6.7755723495503978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5,083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2A0-40F8-929B-892CA1964EBD}"/>
                </c:ext>
              </c:extLst>
            </c:dLbl>
            <c:dLbl>
              <c:idx val="3"/>
              <c:layout>
                <c:manualLayout>
                  <c:x val="-6.8378148971522619E-5"/>
                  <c:y val="-3.2418950880468969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4,208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2A0-40F8-929B-892CA1964EBD}"/>
                </c:ext>
              </c:extLst>
            </c:dLbl>
            <c:dLbl>
              <c:idx val="4"/>
              <c:layout>
                <c:manualLayout>
                  <c:x val="-6.2188673034277333E-4"/>
                  <c:y val="5.8333203626555056E-4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2,689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2A0-40F8-929B-892CA1964EBD}"/>
                </c:ext>
              </c:extLst>
            </c:dLbl>
            <c:dLbl>
              <c:idx val="5"/>
              <c:layout>
                <c:manualLayout>
                  <c:x val="-6.7686587414288505E-5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2,360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C2A0-40F8-929B-892CA1964EBD}"/>
                </c:ext>
              </c:extLst>
            </c:dLbl>
            <c:dLbl>
              <c:idx val="6"/>
              <c:layout>
                <c:manualLayout>
                  <c:x val="6.7183973205462919E-4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1,219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2A0-40F8-929B-892CA1964EBD}"/>
                </c:ext>
              </c:extLst>
            </c:dLbl>
            <c:dLbl>
              <c:idx val="7"/>
              <c:layout>
                <c:manualLayout>
                  <c:x val="-3.1721777842498881E-3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1,079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C2A0-40F8-929B-892CA1964EBD}"/>
                </c:ext>
              </c:extLst>
            </c:dLbl>
            <c:dLbl>
              <c:idx val="8"/>
              <c:layout>
                <c:manualLayout>
                  <c:x val="3.5183194224265216E-5"/>
                  <c:y val="2.950345225237949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2A0-40F8-929B-892CA1964EBD}"/>
                </c:ext>
              </c:extLst>
            </c:dLbl>
            <c:dLbl>
              <c:idx val="9"/>
              <c:layout>
                <c:manualLayout>
                  <c:x val="-9.587636539104391E-4"/>
                  <c:y val="2.950345225237949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2A0-40F8-929B-892CA1964E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United States</c:v>
                </c:pt>
                <c:pt idx="1">
                  <c:v>Canada</c:v>
                </c:pt>
                <c:pt idx="2">
                  <c:v>Germany</c:v>
                </c:pt>
                <c:pt idx="3">
                  <c:v>United Kingdom</c:v>
                </c:pt>
                <c:pt idx="4">
                  <c:v>Australia</c:v>
                </c:pt>
                <c:pt idx="5">
                  <c:v>Spain</c:v>
                </c:pt>
                <c:pt idx="6">
                  <c:v>Italy</c:v>
                </c:pt>
                <c:pt idx="7">
                  <c:v>France</c:v>
                </c:pt>
                <c:pt idx="8">
                  <c:v>New Zealand</c:v>
                </c:pt>
                <c:pt idx="9">
                  <c:v>Switzerland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58128</c:v>
                </c:pt>
                <c:pt idx="1">
                  <c:v>8884</c:v>
                </c:pt>
                <c:pt idx="2">
                  <c:v>5083</c:v>
                </c:pt>
                <c:pt idx="3">
                  <c:v>4208</c:v>
                </c:pt>
                <c:pt idx="4">
                  <c:v>2689</c:v>
                </c:pt>
                <c:pt idx="5">
                  <c:v>2360</c:v>
                </c:pt>
                <c:pt idx="6">
                  <c:v>1219</c:v>
                </c:pt>
                <c:pt idx="7">
                  <c:v>1079</c:v>
                </c:pt>
                <c:pt idx="8">
                  <c:v>708</c:v>
                </c:pt>
                <c:pt idx="9">
                  <c:v>634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A0-40F8-929B-892CA1964EB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505473807"/>
        <c:axId val="505445007"/>
      </c:barChart>
      <c:catAx>
        <c:axId val="5054738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5445007"/>
        <c:crosses val="autoZero"/>
        <c:auto val="1"/>
        <c:lblAlgn val="ctr"/>
        <c:lblOffset val="100"/>
        <c:noMultiLvlLbl val="0"/>
      </c:catAx>
      <c:valAx>
        <c:axId val="5054450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5473807"/>
        <c:crosses val="autoZero"/>
        <c:crossBetween val="between"/>
      </c:valAx>
      <c:spPr>
        <a:solidFill>
          <a:schemeClr val="bg1">
            <a:lumMod val="85000"/>
            <a:lumOff val="15000"/>
          </a:schemeClr>
        </a:solidFill>
        <a:ln>
          <a:solidFill>
            <a:schemeClr val="tx2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lnSpc>
                <a:spcPct val="150000"/>
              </a:lnSpc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</a:t>
            </a:r>
            <a:r>
              <a:rPr lang="en-US" baseline="0" dirty="0"/>
              <a:t> </a:t>
            </a:r>
            <a:r>
              <a:rPr lang="en-US" dirty="0"/>
              <a:t>Rating By Country with</a:t>
            </a:r>
            <a:r>
              <a:rPr lang="en-US" baseline="0" dirty="0"/>
              <a:t> more than 500 Ratings on a Scale from 1-10</a:t>
            </a:r>
          </a:p>
          <a:p>
            <a:pPr>
              <a:lnSpc>
                <a:spcPct val="150000"/>
              </a:lnSpc>
              <a:defRPr/>
            </a:pPr>
            <a:r>
              <a:rPr lang="en-US" sz="1200" baseline="0" dirty="0"/>
              <a:t>Note: Only Countries with sufficient data were included to ensure reliability</a:t>
            </a:r>
            <a:endParaRPr lang="en-US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lnSpc>
              <a:spcPct val="150000"/>
            </a:lnSpc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8464159546727666E-2"/>
          <c:y val="0.18356895002966256"/>
          <c:w val="0.95819610047984871"/>
          <c:h val="0.676981266549715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Philippines</c:v>
                </c:pt>
                <c:pt idx="1">
                  <c:v>Singapore</c:v>
                </c:pt>
                <c:pt idx="2">
                  <c:v>Belgium</c:v>
                </c:pt>
                <c:pt idx="3">
                  <c:v>China</c:v>
                </c:pt>
                <c:pt idx="4">
                  <c:v>Portugal</c:v>
                </c:pt>
                <c:pt idx="5">
                  <c:v>Japan</c:v>
                </c:pt>
                <c:pt idx="6">
                  <c:v>Ireland</c:v>
                </c:pt>
                <c:pt idx="7">
                  <c:v>Brazil</c:v>
                </c:pt>
                <c:pt idx="8">
                  <c:v>Romania</c:v>
                </c:pt>
                <c:pt idx="9">
                  <c:v>Dominican Republic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6.28</c:v>
                </c:pt>
                <c:pt idx="1">
                  <c:v>4.76</c:v>
                </c:pt>
                <c:pt idx="2">
                  <c:v>4.3899999999999997</c:v>
                </c:pt>
                <c:pt idx="3">
                  <c:v>3.96</c:v>
                </c:pt>
                <c:pt idx="4">
                  <c:v>3.85</c:v>
                </c:pt>
                <c:pt idx="5">
                  <c:v>3.71</c:v>
                </c:pt>
                <c:pt idx="6">
                  <c:v>3.67</c:v>
                </c:pt>
                <c:pt idx="7">
                  <c:v>3.64</c:v>
                </c:pt>
                <c:pt idx="8">
                  <c:v>3.64</c:v>
                </c:pt>
                <c:pt idx="9">
                  <c:v>3.62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DD-40AA-8BE8-AD982ECA6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5474767"/>
        <c:axId val="505476207"/>
      </c:barChart>
      <c:catAx>
        <c:axId val="505474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5476207"/>
        <c:crosses val="autoZero"/>
        <c:auto val="1"/>
        <c:lblAlgn val="ctr"/>
        <c:lblOffset val="100"/>
        <c:noMultiLvlLbl val="0"/>
      </c:catAx>
      <c:valAx>
        <c:axId val="505476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5474767"/>
        <c:crosses val="autoZero"/>
        <c:crossBetween val="between"/>
      </c:valAx>
      <c:spPr>
        <a:solidFill>
          <a:schemeClr val="bg1">
            <a:lumMod val="85000"/>
            <a:lumOff val="15000"/>
          </a:schemeClr>
        </a:solidFill>
        <a:ln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39325487055201325"/>
          <c:y val="0.92369954275324773"/>
          <c:w val="0.19499620341380708"/>
          <c:h val="5.85292634656439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/>
              <a:t>Popularity</a:t>
            </a:r>
            <a:r>
              <a:rPr lang="en-US" sz="1600" baseline="0" dirty="0"/>
              <a:t> of Titles By Number Of Ratings</a:t>
            </a:r>
            <a:endParaRPr lang="en-US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2466469227029998"/>
          <c:y val="0.12494848704933818"/>
          <c:w val="0.65455165410834126"/>
          <c:h val="0.701282519462714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Ratings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Wild Animus</c:v>
                </c:pt>
                <c:pt idx="1">
                  <c:v>The Lovely Bones: A Novel</c:v>
                </c:pt>
                <c:pt idx="2">
                  <c:v>The Da Vinci Code</c:v>
                </c:pt>
                <c:pt idx="3">
                  <c:v>Divine Secrets of the Ya-Ya Sisterhood: A Novel</c:v>
                </c:pt>
                <c:pt idx="4">
                  <c:v>The Red Tent (Bestselling Backlist)</c:v>
                </c:pt>
                <c:pt idx="5">
                  <c:v>A Painted House</c:v>
                </c:pt>
                <c:pt idx="6">
                  <c:v>The Secret Life of Bees</c:v>
                </c:pt>
                <c:pt idx="7">
                  <c:v>Snow Falling on Cedars</c:v>
                </c:pt>
                <c:pt idx="8">
                  <c:v>Where the Heart Is (Oprah's Book Club (Paperback))</c:v>
                </c:pt>
                <c:pt idx="9">
                  <c:v>Angels &amp;amp; Demons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2502</c:v>
                </c:pt>
                <c:pt idx="1">
                  <c:v>1295</c:v>
                </c:pt>
                <c:pt idx="2">
                  <c:v>884</c:v>
                </c:pt>
                <c:pt idx="3">
                  <c:v>732</c:v>
                </c:pt>
                <c:pt idx="4">
                  <c:v>723</c:v>
                </c:pt>
                <c:pt idx="5">
                  <c:v>649</c:v>
                </c:pt>
                <c:pt idx="6">
                  <c:v>621</c:v>
                </c:pt>
                <c:pt idx="7">
                  <c:v>618</c:v>
                </c:pt>
                <c:pt idx="8">
                  <c:v>587</c:v>
                </c:pt>
                <c:pt idx="9">
                  <c:v>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9F-4B64-9844-12FC39154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9323391"/>
        <c:axId val="489319551"/>
      </c:barChart>
      <c:catAx>
        <c:axId val="4893233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319551"/>
        <c:crosses val="autoZero"/>
        <c:auto val="1"/>
        <c:lblAlgn val="ctr"/>
        <c:lblOffset val="100"/>
        <c:noMultiLvlLbl val="0"/>
      </c:catAx>
      <c:valAx>
        <c:axId val="4893195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323391"/>
        <c:crosses val="autoZero"/>
        <c:crossBetween val="between"/>
      </c:valAx>
      <c:spPr>
        <a:solidFill>
          <a:schemeClr val="bg1">
            <a:lumMod val="85000"/>
            <a:lumOff val="15000"/>
          </a:schemeClr>
        </a:solidFill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</a:t>
            </a:r>
            <a:r>
              <a:rPr lang="en-US" baseline="0" dirty="0"/>
              <a:t> </a:t>
            </a:r>
            <a:r>
              <a:rPr lang="en-US" dirty="0"/>
              <a:t>Rating Of Most Popular Titles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Harry Potter and the Chamber of Secrets (Book 2)</c:v>
                </c:pt>
                <c:pt idx="1">
                  <c:v>Harry Potter and the Goblet of Fire (Book 4)</c:v>
                </c:pt>
                <c:pt idx="2">
                  <c:v>Harry Potter and the Prisoner of Azkaban (Book 3)</c:v>
                </c:pt>
                <c:pt idx="3">
                  <c:v>Harry Potter and the Sorcerer's Stone (Book 1)</c:v>
                </c:pt>
                <c:pt idx="4">
                  <c:v>Harry Potter and the Order of the Phoenix (Book 5)</c:v>
                </c:pt>
                <c:pt idx="5">
                  <c:v>Harry Potter and the Prisoner of Azkaban (Book 3)</c:v>
                </c:pt>
                <c:pt idx="6">
                  <c:v>Ender's Game (Ender Wiggins Saga (Paperback))</c:v>
                </c:pt>
                <c:pt idx="7">
                  <c:v>The Perks of Being a Wallflower</c:v>
                </c:pt>
                <c:pt idx="8">
                  <c:v>Harry Potter and the Goblet of Fire (Book 4)</c:v>
                </c:pt>
                <c:pt idx="9">
                  <c:v>The Hobbit : The Enchanting Prelude to The Lord of the Rings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6.61</c:v>
                </c:pt>
                <c:pt idx="1">
                  <c:v>6.56</c:v>
                </c:pt>
                <c:pt idx="2">
                  <c:v>6.47</c:v>
                </c:pt>
                <c:pt idx="3">
                  <c:v>6.36</c:v>
                </c:pt>
                <c:pt idx="4">
                  <c:v>5.59</c:v>
                </c:pt>
                <c:pt idx="5">
                  <c:v>5.35</c:v>
                </c:pt>
                <c:pt idx="6">
                  <c:v>5.3</c:v>
                </c:pt>
                <c:pt idx="7">
                  <c:v>5.19</c:v>
                </c:pt>
                <c:pt idx="8">
                  <c:v>5.0999999999999996</c:v>
                </c:pt>
                <c:pt idx="9">
                  <c:v>5.01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52-4313-96D5-2D9F74BB8A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05490607"/>
        <c:axId val="505483887"/>
      </c:barChart>
      <c:catAx>
        <c:axId val="5054906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5483887"/>
        <c:crosses val="autoZero"/>
        <c:auto val="1"/>
        <c:lblAlgn val="ctr"/>
        <c:lblOffset val="100"/>
        <c:noMultiLvlLbl val="0"/>
      </c:catAx>
      <c:valAx>
        <c:axId val="5054838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5490607"/>
        <c:crosses val="autoZero"/>
        <c:crossBetween val="between"/>
      </c:valAx>
      <c:spPr>
        <a:solidFill>
          <a:schemeClr val="bg1">
            <a:lumMod val="85000"/>
            <a:lumOff val="15000"/>
          </a:schemeClr>
        </a:solidFill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</a:t>
            </a:r>
            <a:r>
              <a:rPr lang="en-US" baseline="0" dirty="0"/>
              <a:t> o</a:t>
            </a:r>
            <a:r>
              <a:rPr lang="en-US" dirty="0"/>
              <a:t>f</a:t>
            </a:r>
            <a:r>
              <a:rPr lang="en-US" baseline="0" dirty="0"/>
              <a:t> </a:t>
            </a:r>
            <a:r>
              <a:rPr lang="en-US" dirty="0"/>
              <a:t>Ratings for the Most Popular Titles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Ratings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Harry Potter and the Chamber of Secrets (Book 2)</c:v>
                </c:pt>
                <c:pt idx="1">
                  <c:v>Harry Potter and the Goblet of Fire (Book 4)</c:v>
                </c:pt>
                <c:pt idx="2">
                  <c:v>Harry Potter and the Prisoner of Azkaban (Book 3)</c:v>
                </c:pt>
                <c:pt idx="3">
                  <c:v>Harry Potter and the Sorcerer's Stone (Book 1)</c:v>
                </c:pt>
                <c:pt idx="4">
                  <c:v>Harry Potter and the Order of the Phoenix (Book 5)</c:v>
                </c:pt>
                <c:pt idx="5">
                  <c:v>Harry Potter and the Prisoner of Azkaban (Book 3)</c:v>
                </c:pt>
                <c:pt idx="6">
                  <c:v>Ender's Game (Ender Wiggins Saga (Paperback))</c:v>
                </c:pt>
                <c:pt idx="7">
                  <c:v>The Perks of Being a Wallflower</c:v>
                </c:pt>
                <c:pt idx="8">
                  <c:v>Harry Potter and the Goblet of Fire (Book 4)</c:v>
                </c:pt>
                <c:pt idx="9">
                  <c:v>The Hobbit : The Enchanting Prelude to The Lord of the Rings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170</c:v>
                </c:pt>
                <c:pt idx="1">
                  <c:v>195</c:v>
                </c:pt>
                <c:pt idx="2">
                  <c:v>197</c:v>
                </c:pt>
                <c:pt idx="3">
                  <c:v>168</c:v>
                </c:pt>
                <c:pt idx="4">
                  <c:v>335</c:v>
                </c:pt>
                <c:pt idx="5">
                  <c:v>226</c:v>
                </c:pt>
                <c:pt idx="6">
                  <c:v>195</c:v>
                </c:pt>
                <c:pt idx="7">
                  <c:v>103</c:v>
                </c:pt>
                <c:pt idx="8">
                  <c:v>193</c:v>
                </c:pt>
                <c:pt idx="9">
                  <c:v>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1-48DA-8690-E6B514E665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05504527"/>
        <c:axId val="505502607"/>
      </c:barChart>
      <c:catAx>
        <c:axId val="5055045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5502607"/>
        <c:crosses val="autoZero"/>
        <c:auto val="1"/>
        <c:lblAlgn val="ctr"/>
        <c:lblOffset val="100"/>
        <c:noMultiLvlLbl val="0"/>
      </c:catAx>
      <c:valAx>
        <c:axId val="5055026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5504527"/>
        <c:crosses val="autoZero"/>
        <c:crossBetween val="between"/>
      </c:valAx>
      <c:spPr>
        <a:solidFill>
          <a:schemeClr val="bg1">
            <a:lumMod val="85000"/>
            <a:lumOff val="15000"/>
          </a:schemeClr>
        </a:solidFill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</a:t>
            </a:r>
            <a:r>
              <a:rPr lang="en-US" baseline="0" dirty="0"/>
              <a:t> </a:t>
            </a:r>
            <a:r>
              <a:rPr lang="en-US" dirty="0"/>
              <a:t>Rating of the Most</a:t>
            </a:r>
            <a:r>
              <a:rPr lang="en-US" baseline="0" dirty="0"/>
              <a:t> Popular Classics/Older Titles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The Hobbit</c:v>
                </c:pt>
                <c:pt idx="1">
                  <c:v>Clue of the Leaning Chimney (Nancy Drew (Hardcover))</c:v>
                </c:pt>
                <c:pt idx="2">
                  <c:v>RAMONA THE PEST (Ramona Quimby (Paperback))</c:v>
                </c:pt>
                <c:pt idx="3">
                  <c:v>Stuart Little 60th Anniversary Edition</c:v>
                </c:pt>
                <c:pt idx="4">
                  <c:v>The Clue in the Crumbling Wall (Nancy Drew Mystery Stories, No 22)</c:v>
                </c:pt>
                <c:pt idx="5">
                  <c:v>Farewell to Arms</c:v>
                </c:pt>
                <c:pt idx="6">
                  <c:v>Animal Farm (Bridge)</c:v>
                </c:pt>
                <c:pt idx="7">
                  <c:v>Manifesto of the Communist Party</c:v>
                </c:pt>
                <c:pt idx="8">
                  <c:v>The Clue in the Old Album (Nancy Drew Mystery Stories, No 24)</c:v>
                </c:pt>
                <c:pt idx="9">
                  <c:v>Gone With the Wind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7.25</c:v>
                </c:pt>
                <c:pt idx="1">
                  <c:v>6.4</c:v>
                </c:pt>
                <c:pt idx="2">
                  <c:v>6</c:v>
                </c:pt>
                <c:pt idx="3">
                  <c:v>5.88</c:v>
                </c:pt>
                <c:pt idx="4">
                  <c:v>5.4</c:v>
                </c:pt>
                <c:pt idx="5">
                  <c:v>5.31</c:v>
                </c:pt>
                <c:pt idx="6">
                  <c:v>5.2</c:v>
                </c:pt>
                <c:pt idx="7">
                  <c:v>4.83</c:v>
                </c:pt>
                <c:pt idx="8">
                  <c:v>4.57</c:v>
                </c:pt>
                <c:pt idx="9">
                  <c:v>4.38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93-4949-BF7D-FE492137D1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9357951"/>
        <c:axId val="489350751"/>
      </c:barChart>
      <c:catAx>
        <c:axId val="489357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350751"/>
        <c:crosses val="autoZero"/>
        <c:auto val="1"/>
        <c:lblAlgn val="ctr"/>
        <c:lblOffset val="100"/>
        <c:noMultiLvlLbl val="0"/>
      </c:catAx>
      <c:valAx>
        <c:axId val="4893507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357951"/>
        <c:crosses val="autoZero"/>
        <c:crossBetween val="between"/>
      </c:valAx>
      <c:spPr>
        <a:solidFill>
          <a:schemeClr val="bg1">
            <a:lumMod val="85000"/>
            <a:lumOff val="15000"/>
          </a:schemeClr>
        </a:solidFill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</a:t>
            </a:r>
            <a:r>
              <a:rPr lang="en-US" baseline="0" dirty="0"/>
              <a:t> </a:t>
            </a:r>
            <a:r>
              <a:rPr lang="en-US" dirty="0"/>
              <a:t>Of Ratings for</a:t>
            </a:r>
            <a:r>
              <a:rPr lang="en-US" baseline="0" dirty="0"/>
              <a:t> Popular Classics/Older Titles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Ratings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The Hobbit</c:v>
                </c:pt>
                <c:pt idx="1">
                  <c:v>Clue of the Leaning Chimney (Nancy Drew (Hardcover))</c:v>
                </c:pt>
                <c:pt idx="2">
                  <c:v>RAMONA THE PEST (Ramona Quimby (Paperback))</c:v>
                </c:pt>
                <c:pt idx="3">
                  <c:v>Stuart Little 60th Anniversary Edition</c:v>
                </c:pt>
                <c:pt idx="4">
                  <c:v>The Clue in the Crumbling Wall (Nancy Drew Mystery Stories, No 22)</c:v>
                </c:pt>
                <c:pt idx="5">
                  <c:v>Farewell to Arms</c:v>
                </c:pt>
                <c:pt idx="6">
                  <c:v>Animal Farm (Bridge)</c:v>
                </c:pt>
                <c:pt idx="7">
                  <c:v>Manifesto of the Communist Party</c:v>
                </c:pt>
                <c:pt idx="8">
                  <c:v>The Clue in the Old Album (Nancy Drew Mystery Stories, No 24)</c:v>
                </c:pt>
                <c:pt idx="9">
                  <c:v>Gone With the Wind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5</c:v>
                </c:pt>
                <c:pt idx="2">
                  <c:v>5</c:v>
                </c:pt>
                <c:pt idx="3">
                  <c:v>8</c:v>
                </c:pt>
                <c:pt idx="4">
                  <c:v>5</c:v>
                </c:pt>
                <c:pt idx="5">
                  <c:v>13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CE-4DB5-BC2E-5A92BEE7B1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9320511"/>
        <c:axId val="489312351"/>
      </c:barChart>
      <c:catAx>
        <c:axId val="4893205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312351"/>
        <c:crosses val="autoZero"/>
        <c:auto val="1"/>
        <c:lblAlgn val="ctr"/>
        <c:lblOffset val="100"/>
        <c:noMultiLvlLbl val="0"/>
      </c:catAx>
      <c:valAx>
        <c:axId val="4893123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320511"/>
        <c:crosses val="autoZero"/>
        <c:crossBetween val="between"/>
      </c:valAx>
      <c:spPr>
        <a:solidFill>
          <a:schemeClr val="bg1">
            <a:lumMod val="85000"/>
            <a:lumOff val="15000"/>
          </a:schemeClr>
        </a:solidFill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lnSpc>
                <a:spcPct val="150000"/>
              </a:lnSpc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</a:t>
            </a:r>
            <a:r>
              <a:rPr lang="en-US" baseline="0" dirty="0"/>
              <a:t> </a:t>
            </a:r>
            <a:r>
              <a:rPr lang="en-US" dirty="0"/>
              <a:t>Rating Of Top 10</a:t>
            </a:r>
            <a:r>
              <a:rPr lang="en-US" baseline="0" dirty="0"/>
              <a:t> Publishing Houses</a:t>
            </a:r>
          </a:p>
          <a:p>
            <a:pPr>
              <a:lnSpc>
                <a:spcPct val="150000"/>
              </a:lnSpc>
              <a:defRPr/>
            </a:pPr>
            <a:r>
              <a:rPr lang="en-US" sz="1200" dirty="0"/>
              <a:t>Note:</a:t>
            </a:r>
            <a:r>
              <a:rPr lang="en-US" sz="1200" baseline="0" dirty="0"/>
              <a:t> Only Publishing Houses with sufficient ratings (&gt;=300) were included to ensure reliability</a:t>
            </a:r>
            <a:endParaRPr lang="en-US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lnSpc>
              <a:spcPct val="150000"/>
            </a:lnSpc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Tokyopop</c:v>
                </c:pt>
                <c:pt idx="1">
                  <c:v>DC Comics</c:v>
                </c:pt>
                <c:pt idx="2">
                  <c:v>Arthur A. Levine Books</c:v>
                </c:pt>
                <c:pt idx="3">
                  <c:v>Andrews McMeel Publishing</c:v>
                </c:pt>
                <c:pt idx="4">
                  <c:v>O'Reilly</c:v>
                </c:pt>
                <c:pt idx="5">
                  <c:v>Lonely Planet Publications</c:v>
                </c:pt>
                <c:pt idx="6">
                  <c:v>Distribooks</c:v>
                </c:pt>
                <c:pt idx="7">
                  <c:v>Chronicle Books</c:v>
                </c:pt>
                <c:pt idx="8">
                  <c:v>Alianza</c:v>
                </c:pt>
                <c:pt idx="9">
                  <c:v>Llewellyn Publications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6.39</c:v>
                </c:pt>
                <c:pt idx="1">
                  <c:v>5.87</c:v>
                </c:pt>
                <c:pt idx="2">
                  <c:v>4.79</c:v>
                </c:pt>
                <c:pt idx="3">
                  <c:v>4.6900000000000004</c:v>
                </c:pt>
                <c:pt idx="4">
                  <c:v>4.62</c:v>
                </c:pt>
                <c:pt idx="5">
                  <c:v>4.54</c:v>
                </c:pt>
                <c:pt idx="6">
                  <c:v>4.3</c:v>
                </c:pt>
                <c:pt idx="7">
                  <c:v>4.25</c:v>
                </c:pt>
                <c:pt idx="8">
                  <c:v>4.1500000000000004</c:v>
                </c:pt>
                <c:pt idx="9">
                  <c:v>4.1500000000000004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A7-482A-8ACC-55CB7A181C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9312831"/>
        <c:axId val="489315711"/>
      </c:barChart>
      <c:catAx>
        <c:axId val="4893128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315711"/>
        <c:crosses val="autoZero"/>
        <c:auto val="1"/>
        <c:lblAlgn val="ctr"/>
        <c:lblOffset val="100"/>
        <c:noMultiLvlLbl val="0"/>
      </c:catAx>
      <c:valAx>
        <c:axId val="4893157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312831"/>
        <c:crosses val="autoZero"/>
        <c:crossBetween val="between"/>
      </c:valAx>
      <c:spPr>
        <a:solidFill>
          <a:schemeClr val="bg1">
            <a:lumMod val="85000"/>
            <a:lumOff val="15000"/>
          </a:schemeClr>
        </a:solidFill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 Of Ratings by Age</a:t>
            </a:r>
            <a:r>
              <a:rPr lang="en-US" baseline="0" dirty="0"/>
              <a:t> Group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Number Of Ratings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26 - 35 Years</c:v>
                </c:pt>
                <c:pt idx="1">
                  <c:v>36 - 50 years</c:v>
                </c:pt>
                <c:pt idx="2">
                  <c:v>50+ Years</c:v>
                </c:pt>
                <c:pt idx="3">
                  <c:v>18 - 25 Years</c:v>
                </c:pt>
                <c:pt idx="4">
                  <c:v>Under 18 Years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259024</c:v>
                </c:pt>
                <c:pt idx="1">
                  <c:v>249085</c:v>
                </c:pt>
                <c:pt idx="2">
                  <c:v>120165</c:v>
                </c:pt>
                <c:pt idx="3">
                  <c:v>101804</c:v>
                </c:pt>
                <c:pt idx="4">
                  <c:v>20617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2A-4F4D-B9B3-364897D689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9369471"/>
        <c:axId val="489348351"/>
      </c:barChart>
      <c:catAx>
        <c:axId val="489369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348351"/>
        <c:crosses val="autoZero"/>
        <c:auto val="1"/>
        <c:lblAlgn val="ctr"/>
        <c:lblOffset val="100"/>
        <c:noMultiLvlLbl val="0"/>
      </c:catAx>
      <c:valAx>
        <c:axId val="489348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369471"/>
        <c:crosses val="autoZero"/>
        <c:crossBetween val="between"/>
      </c:valAx>
      <c:spPr>
        <a:solidFill>
          <a:schemeClr val="bg1">
            <a:lumMod val="85000"/>
            <a:lumOff val="15000"/>
          </a:schemeClr>
        </a:solidFill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</a:t>
            </a:r>
            <a:r>
              <a:rPr lang="en-US" baseline="0" dirty="0"/>
              <a:t> </a:t>
            </a:r>
            <a:r>
              <a:rPr lang="en-US" dirty="0"/>
              <a:t>Rating by Age Group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6990399317654657E-2"/>
          <c:y val="0.12712476562621244"/>
          <c:w val="0.90734249368102438"/>
          <c:h val="0.697719067480369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26 - 35 Years</c:v>
                </c:pt>
                <c:pt idx="1">
                  <c:v>36 - 50 years</c:v>
                </c:pt>
                <c:pt idx="2">
                  <c:v>50+ Years</c:v>
                </c:pt>
                <c:pt idx="3">
                  <c:v>18 - 25 Years</c:v>
                </c:pt>
                <c:pt idx="4">
                  <c:v>Under 18 Years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2.74</c:v>
                </c:pt>
                <c:pt idx="1">
                  <c:v>2.67</c:v>
                </c:pt>
                <c:pt idx="2">
                  <c:v>2.77</c:v>
                </c:pt>
                <c:pt idx="3">
                  <c:v>2.93</c:v>
                </c:pt>
                <c:pt idx="4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F9-45C3-AB5B-14356D4BE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8476959"/>
        <c:axId val="428475999"/>
      </c:barChart>
      <c:catAx>
        <c:axId val="428476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8475999"/>
        <c:crosses val="autoZero"/>
        <c:auto val="1"/>
        <c:lblAlgn val="ctr"/>
        <c:lblOffset val="100"/>
        <c:noMultiLvlLbl val="0"/>
      </c:catAx>
      <c:valAx>
        <c:axId val="428475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8476959"/>
        <c:crosses val="autoZero"/>
        <c:crossBetween val="between"/>
      </c:valAx>
      <c:spPr>
        <a:solidFill>
          <a:schemeClr val="bg1">
            <a:lumMod val="85000"/>
            <a:lumOff val="1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2627996962731046"/>
          <c:y val="0.911126306250297"/>
          <c:w val="0.14744006074537908"/>
          <c:h val="5.9011169524612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6369B-11F7-D3BF-DD21-D1720B3C1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742465"/>
            <a:ext cx="8144134" cy="1373070"/>
          </a:xfrm>
        </p:spPr>
        <p:txBody>
          <a:bodyPr/>
          <a:lstStyle/>
          <a:p>
            <a:r>
              <a:rPr lang="en-IN" sz="4800" dirty="0"/>
              <a:t>Book Ratings &amp; </a:t>
            </a:r>
            <a:br>
              <a:rPr lang="en-IN" sz="4800" dirty="0"/>
            </a:br>
            <a:r>
              <a:rPr lang="en-IN" sz="4800" dirty="0"/>
              <a:t>User Behaviour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61EA9-D87A-05CA-A98D-8475E196B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1" y="4394039"/>
            <a:ext cx="8273897" cy="1592693"/>
          </a:xfrm>
        </p:spPr>
        <p:txBody>
          <a:bodyPr/>
          <a:lstStyle/>
          <a:p>
            <a:pPr algn="ctr"/>
            <a:r>
              <a:rPr lang="en-US" sz="1600" b="1" dirty="0"/>
              <a:t>Insights from User Ratings, Demographics &amp; Book Metadata</a:t>
            </a:r>
          </a:p>
          <a:p>
            <a:pPr algn="ctr"/>
            <a:r>
              <a:rPr lang="en-US" sz="1600" b="1" dirty="0"/>
              <a:t>Dataset:</a:t>
            </a:r>
            <a:r>
              <a:rPr lang="en-US" sz="1600" dirty="0"/>
              <a:t> </a:t>
            </a:r>
            <a:r>
              <a:rPr lang="en-IN" sz="1600" dirty="0"/>
              <a:t>Book Recommendation Dataset</a:t>
            </a:r>
          </a:p>
          <a:p>
            <a:pPr algn="ctr"/>
            <a:r>
              <a:rPr lang="en-US" sz="1600" b="1" dirty="0"/>
              <a:t>Scope:</a:t>
            </a:r>
            <a:r>
              <a:rPr lang="en-US" sz="1600" dirty="0"/>
              <a:t> Engagement ,Popularity ,Sentiment</a:t>
            </a:r>
          </a:p>
          <a:p>
            <a:pPr algn="ctr"/>
            <a:r>
              <a:rPr lang="en-US" sz="1600" b="1" dirty="0"/>
              <a:t>Objective:</a:t>
            </a:r>
            <a:r>
              <a:rPr lang="en-US" sz="1600" dirty="0"/>
              <a:t> Derive Actionable Insights From Reader Behavior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97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FC76-E59D-1210-9D00-2E9C0058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Summary - Overall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2792B-7B91-502C-BF19-BB27726B3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3 Tables – Users ,Books and Ratings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A89EF7-5FB7-A278-ED7C-D7AC76315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468239"/>
              </p:ext>
            </p:extLst>
          </p:nvPr>
        </p:nvGraphicFramePr>
        <p:xfrm>
          <a:off x="2854863" y="3618782"/>
          <a:ext cx="6482274" cy="219110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241137">
                  <a:extLst>
                    <a:ext uri="{9D8B030D-6E8A-4147-A177-3AD203B41FA5}">
                      <a16:colId xmlns:a16="http://schemas.microsoft.com/office/drawing/2014/main" val="3349666596"/>
                    </a:ext>
                  </a:extLst>
                </a:gridCol>
                <a:gridCol w="3241137">
                  <a:extLst>
                    <a:ext uri="{9D8B030D-6E8A-4147-A177-3AD203B41FA5}">
                      <a16:colId xmlns:a16="http://schemas.microsoft.com/office/drawing/2014/main" val="3409453808"/>
                    </a:ext>
                  </a:extLst>
                </a:gridCol>
              </a:tblGrid>
              <a:tr h="54777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No. Of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870217"/>
                  </a:ext>
                </a:extLst>
              </a:tr>
              <a:tr h="547777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Users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2,78,858 Unique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2615"/>
                  </a:ext>
                </a:extLst>
              </a:tr>
              <a:tr h="547777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Books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2,70,928 Unique Books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882416"/>
                  </a:ext>
                </a:extLst>
              </a:tr>
              <a:tr h="547777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Ratings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10,31,582 Unique Ratings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023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88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218C-2DCB-4E6D-2201-1B5A410D3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Summary – Key Dimensions (Users)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D3F57-E0F7-E92D-3A76-FBC2F6254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Users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AB92FF-045A-8F78-D571-EE409BEB4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567145"/>
              </p:ext>
            </p:extLst>
          </p:nvPr>
        </p:nvGraphicFramePr>
        <p:xfrm>
          <a:off x="1771052" y="3156137"/>
          <a:ext cx="8649896" cy="27044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91859">
                  <a:extLst>
                    <a:ext uri="{9D8B030D-6E8A-4147-A177-3AD203B41FA5}">
                      <a16:colId xmlns:a16="http://schemas.microsoft.com/office/drawing/2014/main" val="1490192137"/>
                    </a:ext>
                  </a:extLst>
                </a:gridCol>
                <a:gridCol w="6958037">
                  <a:extLst>
                    <a:ext uri="{9D8B030D-6E8A-4147-A177-3AD203B41FA5}">
                      <a16:colId xmlns:a16="http://schemas.microsoft.com/office/drawing/2014/main" val="330701873"/>
                    </a:ext>
                  </a:extLst>
                </a:gridCol>
              </a:tblGrid>
              <a:tr h="67611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Data/Information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779863"/>
                  </a:ext>
                </a:extLst>
              </a:tr>
              <a:tr h="676113">
                <a:tc>
                  <a:txBody>
                    <a:bodyPr/>
                    <a:lstStyle/>
                    <a:p>
                      <a:r>
                        <a:rPr lang="en-IN" dirty="0" err="1"/>
                        <a:t>User_ID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Unique User Identifier ,Primary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329494"/>
                  </a:ext>
                </a:extLst>
              </a:tr>
              <a:tr h="676113">
                <a:tc>
                  <a:txBody>
                    <a:bodyPr/>
                    <a:lstStyle/>
                    <a:p>
                      <a:r>
                        <a:rPr lang="en-IN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Age Of the User ,Range varies from 5 – 119 Years , can be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565373"/>
                  </a:ext>
                </a:extLst>
              </a:tr>
              <a:tr h="676113">
                <a:tc>
                  <a:txBody>
                    <a:bodyPr/>
                    <a:lstStyle/>
                    <a:p>
                      <a:r>
                        <a:rPr lang="en-IN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Country Of the User ,extracted from raw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7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98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233D3-09C9-FB96-4CDC-2F4FE80F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2442-1C3F-2314-11B1-5C5DA4D83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Summary – Key Dimensions (Books)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4EFEA-824B-EE9E-C359-970C681E6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Books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1C12F5-4BA9-117B-276B-DF8D1495A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322318"/>
              </p:ext>
            </p:extLst>
          </p:nvPr>
        </p:nvGraphicFramePr>
        <p:xfrm>
          <a:off x="1373756" y="3161333"/>
          <a:ext cx="9745693" cy="27039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4104">
                  <a:extLst>
                    <a:ext uri="{9D8B030D-6E8A-4147-A177-3AD203B41FA5}">
                      <a16:colId xmlns:a16="http://schemas.microsoft.com/office/drawing/2014/main" val="1490192137"/>
                    </a:ext>
                  </a:extLst>
                </a:gridCol>
                <a:gridCol w="8421589">
                  <a:extLst>
                    <a:ext uri="{9D8B030D-6E8A-4147-A177-3AD203B41FA5}">
                      <a16:colId xmlns:a16="http://schemas.microsoft.com/office/drawing/2014/main" val="330701873"/>
                    </a:ext>
                  </a:extLst>
                </a:gridCol>
              </a:tblGrid>
              <a:tr h="38627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Data/Information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779863"/>
                  </a:ext>
                </a:extLst>
              </a:tr>
              <a:tr h="386276">
                <a:tc>
                  <a:txBody>
                    <a:bodyPr/>
                    <a:lstStyle/>
                    <a:p>
                      <a:r>
                        <a:rPr lang="en-IN" sz="1200" dirty="0"/>
                        <a:t>ISBN_13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Unique Book Identifier ,Follows ISBN 13 Digit Format ,Standardized and extracted from Book metadata ,Primary Key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329494"/>
                  </a:ext>
                </a:extLst>
              </a:tr>
              <a:tr h="386276">
                <a:tc>
                  <a:txBody>
                    <a:bodyPr/>
                    <a:lstStyle/>
                    <a:p>
                      <a:r>
                        <a:rPr lang="en-IN" sz="1200" dirty="0" err="1"/>
                        <a:t>Book_Title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Title/Name of the 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74079"/>
                  </a:ext>
                </a:extLst>
              </a:tr>
              <a:tr h="386276">
                <a:tc>
                  <a:txBody>
                    <a:bodyPr/>
                    <a:lstStyle/>
                    <a:p>
                      <a:r>
                        <a:rPr lang="en-IN" sz="1200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Name of the Author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201562"/>
                  </a:ext>
                </a:extLst>
              </a:tr>
              <a:tr h="386276">
                <a:tc>
                  <a:txBody>
                    <a:bodyPr/>
                    <a:lstStyle/>
                    <a:p>
                      <a:r>
                        <a:rPr lang="en-IN" sz="1200" dirty="0"/>
                        <a:t>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Name of the Publishing House ,can be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065478"/>
                  </a:ext>
                </a:extLst>
              </a:tr>
              <a:tr h="386276">
                <a:tc>
                  <a:txBody>
                    <a:bodyPr/>
                    <a:lstStyle/>
                    <a:p>
                      <a:r>
                        <a:rPr lang="en-IN" sz="1200" dirty="0" err="1"/>
                        <a:t>Year_Published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Year in which title was published ,varies from 1376 AD to the year 2024 ,can be NULL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565373"/>
                  </a:ext>
                </a:extLst>
              </a:tr>
              <a:tr h="386276">
                <a:tc>
                  <a:txBody>
                    <a:bodyPr/>
                    <a:lstStyle/>
                    <a:p>
                      <a:r>
                        <a:rPr lang="en-IN" sz="1200" dirty="0" err="1"/>
                        <a:t>Historical_Flag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Boolean Type (0/1) ,indicates whether Title was originally published before the establishment of the ISBN system or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7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704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0B9E-0ED2-65E6-CAA1-FFE3221B9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9D16-2C93-6E1B-7009-FB91AEECF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Summary – Key Dimensions (Ratings)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BAC99-11D2-2BC0-AD8D-8815D530B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Ratings Table </a:t>
            </a:r>
          </a:p>
          <a:p>
            <a:r>
              <a:rPr lang="en-IN" dirty="0" err="1"/>
              <a:t>User_ID</a:t>
            </a:r>
            <a:r>
              <a:rPr lang="en-IN" dirty="0"/>
              <a:t> and ISBN_13 are Primary Key Pairs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7145AB-2C92-7B41-5B3C-3CFDB7018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10407"/>
              </p:ext>
            </p:extLst>
          </p:nvPr>
        </p:nvGraphicFramePr>
        <p:xfrm>
          <a:off x="1771052" y="3400320"/>
          <a:ext cx="9253506" cy="27044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09921">
                  <a:extLst>
                    <a:ext uri="{9D8B030D-6E8A-4147-A177-3AD203B41FA5}">
                      <a16:colId xmlns:a16="http://schemas.microsoft.com/office/drawing/2014/main" val="1490192137"/>
                    </a:ext>
                  </a:extLst>
                </a:gridCol>
                <a:gridCol w="7443585">
                  <a:extLst>
                    <a:ext uri="{9D8B030D-6E8A-4147-A177-3AD203B41FA5}">
                      <a16:colId xmlns:a16="http://schemas.microsoft.com/office/drawing/2014/main" val="330701873"/>
                    </a:ext>
                  </a:extLst>
                </a:gridCol>
              </a:tblGrid>
              <a:tr h="67611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Data/Information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779863"/>
                  </a:ext>
                </a:extLst>
              </a:tr>
              <a:tr h="676113">
                <a:tc>
                  <a:txBody>
                    <a:bodyPr/>
                    <a:lstStyle/>
                    <a:p>
                      <a:r>
                        <a:rPr lang="en-IN" dirty="0" err="1"/>
                        <a:t>User_ID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Unique User Identifier ,Foreign Key references Users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329494"/>
                  </a:ext>
                </a:extLst>
              </a:tr>
              <a:tr h="676113">
                <a:tc>
                  <a:txBody>
                    <a:bodyPr/>
                    <a:lstStyle/>
                    <a:p>
                      <a:r>
                        <a:rPr lang="en-IN" dirty="0"/>
                        <a:t>ISBN_13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Unique Book Identifier ,Foreign Key references Books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565373"/>
                  </a:ext>
                </a:extLst>
              </a:tr>
              <a:tr h="676113">
                <a:tc>
                  <a:txBody>
                    <a:bodyPr/>
                    <a:lstStyle/>
                    <a:p>
                      <a:r>
                        <a:rPr lang="en-IN" dirty="0" err="1"/>
                        <a:t>Book_Rating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Rating given to the Book/Title ,on a scale from 1-10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7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63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F331-10DC-7892-2941-5BF16919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are our Users located ?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DECEAE3-38C8-B7DE-C658-7967700C09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044192"/>
              </p:ext>
            </p:extLst>
          </p:nvPr>
        </p:nvGraphicFramePr>
        <p:xfrm>
          <a:off x="414068" y="2199736"/>
          <a:ext cx="11568023" cy="4304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5168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CDF84-6F06-A891-0855-F217FFED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C143F-35FB-9B2A-6BF2-2BD0913B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10 Countries by User Engagement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569AB-E838-60E7-FC47-FBFF833BB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101" y="2259233"/>
            <a:ext cx="10187797" cy="41070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User Engagement is concentrated in a handful of countries led by US, Canada, Germany and UK.	</a:t>
            </a:r>
          </a:p>
          <a:p>
            <a:r>
              <a:rPr lang="en-US" sz="1800" dirty="0"/>
              <a:t>United States	</a:t>
            </a:r>
          </a:p>
          <a:p>
            <a:r>
              <a:rPr lang="en-US" sz="1800" dirty="0"/>
              <a:t>Canada	</a:t>
            </a:r>
          </a:p>
          <a:p>
            <a:r>
              <a:rPr lang="en-US" sz="1800" dirty="0"/>
              <a:t>Germany</a:t>
            </a:r>
          </a:p>
          <a:p>
            <a:r>
              <a:rPr lang="en-US" sz="1800" dirty="0"/>
              <a:t>United Kingdom	</a:t>
            </a:r>
          </a:p>
          <a:p>
            <a:r>
              <a:rPr lang="en-US" sz="1800" dirty="0"/>
              <a:t>Australia</a:t>
            </a:r>
          </a:p>
          <a:p>
            <a:r>
              <a:rPr lang="en-US" sz="1800" dirty="0"/>
              <a:t>Spain</a:t>
            </a:r>
          </a:p>
          <a:p>
            <a:r>
              <a:rPr lang="en-US" sz="1800" dirty="0"/>
              <a:t>Italy	</a:t>
            </a:r>
          </a:p>
          <a:p>
            <a:r>
              <a:rPr lang="en-US" sz="1800" dirty="0"/>
              <a:t>France	</a:t>
            </a:r>
          </a:p>
          <a:p>
            <a:r>
              <a:rPr lang="en-US" sz="1800" dirty="0"/>
              <a:t>New Zealand		</a:t>
            </a:r>
          </a:p>
          <a:p>
            <a:r>
              <a:rPr lang="en-US" sz="1800" dirty="0"/>
              <a:t>Switzerland			</a:t>
            </a:r>
          </a:p>
        </p:txBody>
      </p:sp>
    </p:spTree>
    <p:extLst>
      <p:ext uri="{BB962C8B-B14F-4D97-AF65-F5344CB8AC3E}">
        <p14:creationId xmlns:p14="http://schemas.microsoft.com/office/powerpoint/2010/main" val="3073323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AD9C9-C11E-2D2E-EEB7-77472B4FB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D8CD-0ED0-6299-D201-97BD2B7C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Ratings Differ Across Countries?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28BEC9C-1664-B124-E780-4499E1D2A1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8168548"/>
              </p:ext>
            </p:extLst>
          </p:nvPr>
        </p:nvGraphicFramePr>
        <p:xfrm>
          <a:off x="859766" y="1997764"/>
          <a:ext cx="10472468" cy="4701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2610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B5B72-9880-EAD1-3011-BDB32A2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3EED-9AF2-10F0-B5B6-F6B03B41E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Countries with Highest Average Rating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6D123-5E6A-7779-D65C-3C92C960A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69" y="2397258"/>
            <a:ext cx="9613861" cy="4029421"/>
          </a:xfrm>
        </p:spPr>
        <p:txBody>
          <a:bodyPr>
            <a:normAutofit/>
          </a:bodyPr>
          <a:lstStyle/>
          <a:p>
            <a:r>
              <a:rPr lang="en-IN" sz="1800" dirty="0"/>
              <a:t>Philippines</a:t>
            </a:r>
          </a:p>
          <a:p>
            <a:r>
              <a:rPr lang="en-IN" sz="1800" dirty="0"/>
              <a:t>Singapore</a:t>
            </a:r>
          </a:p>
          <a:p>
            <a:r>
              <a:rPr lang="en-IN" sz="1800" dirty="0"/>
              <a:t>Belgium</a:t>
            </a:r>
          </a:p>
          <a:p>
            <a:r>
              <a:rPr lang="en-IN" sz="1800" dirty="0"/>
              <a:t>China</a:t>
            </a:r>
          </a:p>
          <a:p>
            <a:r>
              <a:rPr lang="en-IN" sz="1800" dirty="0"/>
              <a:t>Portugal</a:t>
            </a:r>
          </a:p>
          <a:p>
            <a:r>
              <a:rPr lang="en-IN" sz="1800" dirty="0"/>
              <a:t>Japan</a:t>
            </a:r>
          </a:p>
          <a:p>
            <a:r>
              <a:rPr lang="en-IN" sz="1800" dirty="0"/>
              <a:t>Ireland</a:t>
            </a:r>
          </a:p>
          <a:p>
            <a:r>
              <a:rPr lang="en-IN" sz="1800" dirty="0"/>
              <a:t>Brazil</a:t>
            </a:r>
          </a:p>
          <a:p>
            <a:r>
              <a:rPr lang="en-IN" sz="1800" dirty="0"/>
              <a:t>Romania</a:t>
            </a:r>
          </a:p>
          <a:p>
            <a:r>
              <a:rPr lang="en-IN" sz="1800" dirty="0"/>
              <a:t>Dominican Republic</a:t>
            </a:r>
            <a:endParaRPr lang="en-IN" sz="1900" dirty="0"/>
          </a:p>
          <a:p>
            <a:endParaRPr lang="en-IN" sz="19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8696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262F-FAAD-D2C1-FFBE-DB0EC9428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AA3B-D27D-F0BB-902C-695AFFF5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Most Engaging Books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DA40B-9E8A-B703-7DF9-AA9780C10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029421"/>
          </a:xfrm>
        </p:spPr>
        <p:txBody>
          <a:bodyPr>
            <a:normAutofit/>
          </a:bodyPr>
          <a:lstStyle/>
          <a:p>
            <a:endParaRPr lang="en-IN" sz="19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3FBC98E-9604-D6DD-536F-FD9F0FA8BB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9211441"/>
              </p:ext>
            </p:extLst>
          </p:nvPr>
        </p:nvGraphicFramePr>
        <p:xfrm>
          <a:off x="396815" y="2390911"/>
          <a:ext cx="11335110" cy="3921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30479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F43F0-782D-7B30-F715-22F509F5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E007-6707-D374-C81A-0A1FB417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10 Engaging Titles by Volume of Ratings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79C51-BEB3-0EFD-AABA-0E670AAC0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029421"/>
          </a:xfrm>
        </p:spPr>
        <p:txBody>
          <a:bodyPr>
            <a:normAutofit/>
          </a:bodyPr>
          <a:lstStyle/>
          <a:p>
            <a:endParaRPr lang="en-IN" sz="19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48E100A-8036-0CE9-26AC-3EC7D13EAF61}"/>
              </a:ext>
            </a:extLst>
          </p:cNvPr>
          <p:cNvSpPr txBox="1">
            <a:spLocks/>
          </p:cNvSpPr>
          <p:nvPr/>
        </p:nvSpPr>
        <p:spPr>
          <a:xfrm>
            <a:off x="1289069" y="2335988"/>
            <a:ext cx="9613861" cy="4170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Wild Animus</a:t>
            </a:r>
          </a:p>
          <a:p>
            <a:r>
              <a:rPr lang="en-US" sz="1600" dirty="0"/>
              <a:t>The Lovely Bones: A Novel</a:t>
            </a:r>
          </a:p>
          <a:p>
            <a:r>
              <a:rPr lang="en-US" sz="1600" dirty="0"/>
              <a:t>The Da Vinci Code</a:t>
            </a:r>
          </a:p>
          <a:p>
            <a:r>
              <a:rPr lang="en-US" sz="1600" dirty="0"/>
              <a:t>Divine Secrets of the Ya-Ya Sisterhood: A Novel</a:t>
            </a:r>
          </a:p>
          <a:p>
            <a:r>
              <a:rPr lang="en-US" sz="1600" dirty="0"/>
              <a:t>The Red Tent (Bestselling Backlist)</a:t>
            </a:r>
          </a:p>
          <a:p>
            <a:r>
              <a:rPr lang="en-US" sz="1600" dirty="0"/>
              <a:t>A Painted House</a:t>
            </a:r>
          </a:p>
          <a:p>
            <a:r>
              <a:rPr lang="en-US" sz="1600" dirty="0"/>
              <a:t>The Secret Life of Bees</a:t>
            </a:r>
          </a:p>
          <a:p>
            <a:r>
              <a:rPr lang="en-US" sz="1600" dirty="0"/>
              <a:t>Snow Falling on Cedars</a:t>
            </a:r>
          </a:p>
          <a:p>
            <a:r>
              <a:rPr lang="en-US" sz="1600" dirty="0"/>
              <a:t>Where the Heart Is (Oprah's Book Club (Paperback))</a:t>
            </a:r>
          </a:p>
          <a:p>
            <a:r>
              <a:rPr lang="en-US" sz="1600" dirty="0"/>
              <a:t>Angels &amp;amp; Demons</a:t>
            </a:r>
            <a:endParaRPr lang="en-IN" sz="1600" dirty="0"/>
          </a:p>
          <a:p>
            <a:pPr marL="0" indent="0">
              <a:buNone/>
            </a:pPr>
            <a:r>
              <a:rPr lang="en-US" sz="1600" dirty="0"/>
              <a:t>Popularity is driven by reader engagement volume, not just high ratings.</a:t>
            </a:r>
          </a:p>
          <a:p>
            <a:pPr marL="0" indent="0">
              <a:buNone/>
            </a:pPr>
            <a:r>
              <a:rPr lang="en-US" sz="1600" dirty="0"/>
              <a:t>“Wild Animus” had the highest number of ratings/engagement of all the titles in the dataset.</a:t>
            </a:r>
            <a:endParaRPr lang="en-IN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6732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1FFC-4281-31BB-6393-49B7B011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 with Highest Rating (Quality + Volume)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6F8C0-E8D8-3835-9C82-C37B1C600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69" y="2164344"/>
            <a:ext cx="9613861" cy="4417611"/>
          </a:xfrm>
        </p:spPr>
        <p:txBody>
          <a:bodyPr>
            <a:normAutofit/>
          </a:bodyPr>
          <a:lstStyle/>
          <a:p>
            <a:r>
              <a:rPr lang="en-US" sz="2000" dirty="0"/>
              <a:t>Harry Potter and the Chamber of Secrets (Book 2)</a:t>
            </a:r>
          </a:p>
          <a:p>
            <a:r>
              <a:rPr lang="en-US" sz="2000" dirty="0"/>
              <a:t>Harry Potter and the Goblet of Fire (Book 4)</a:t>
            </a:r>
          </a:p>
          <a:p>
            <a:r>
              <a:rPr lang="en-US" sz="2000" dirty="0"/>
              <a:t>Harry Potter and the Prisoner of Azkaban (Book 3)</a:t>
            </a:r>
          </a:p>
          <a:p>
            <a:r>
              <a:rPr lang="en-US" sz="2000" dirty="0"/>
              <a:t>Harry Potter and the Sorcerer's Stone (Book 1)</a:t>
            </a:r>
          </a:p>
          <a:p>
            <a:r>
              <a:rPr lang="en-US" sz="2000" dirty="0"/>
              <a:t>Harry Potter and the Order of the Phoenix (Book 5)</a:t>
            </a:r>
          </a:p>
          <a:p>
            <a:r>
              <a:rPr lang="en-US" sz="2000" dirty="0"/>
              <a:t>Harry Potter and the Prisoner of Azkaban (Book 3)</a:t>
            </a:r>
          </a:p>
          <a:p>
            <a:r>
              <a:rPr lang="en-US" sz="2000" dirty="0"/>
              <a:t>Ender's Game (Ender Wiggins Saga (Paperback))</a:t>
            </a:r>
          </a:p>
          <a:p>
            <a:r>
              <a:rPr lang="en-US" sz="2000" dirty="0"/>
              <a:t>The Perks of Being a Wallflower</a:t>
            </a:r>
          </a:p>
          <a:p>
            <a:r>
              <a:rPr lang="en-US" sz="2000" dirty="0"/>
              <a:t>Harry Potter and the Goblet of Fire (Book 4)</a:t>
            </a:r>
          </a:p>
          <a:p>
            <a:r>
              <a:rPr lang="en-US" sz="2000" dirty="0"/>
              <a:t>The Hobbit : The Enchanting Prelude to The Lord of the Rings</a:t>
            </a:r>
          </a:p>
          <a:p>
            <a:pPr marL="0" indent="0">
              <a:buNone/>
            </a:pPr>
            <a:r>
              <a:rPr lang="en-US" sz="1200" dirty="0"/>
              <a:t> Note: Only Titles with sufficient volume (&gt;100 Ratings) were included for analysis to ensure reliability.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37827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5EC2-9ABF-D124-BA8B-82AF23A3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 with Highest Rating (Quality + Volume)</a:t>
            </a:r>
            <a:endParaRPr lang="en-IN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2F5218F-400E-DF25-627F-B3B56DEBFE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3871524"/>
              </p:ext>
            </p:extLst>
          </p:nvPr>
        </p:nvGraphicFramePr>
        <p:xfrm>
          <a:off x="1043796" y="2147977"/>
          <a:ext cx="9851365" cy="4373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56752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3B1A9-A9B0-A3C0-00C1-1AA381EA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 with Highest Rating (Quality + Volume)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43472CE-102E-4149-F772-2E6416F9D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716295"/>
              </p:ext>
            </p:extLst>
          </p:nvPr>
        </p:nvGraphicFramePr>
        <p:xfrm>
          <a:off x="1026544" y="2139351"/>
          <a:ext cx="9980762" cy="4364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71422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B3DB-2973-D511-4998-E5D6B6247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Popularity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F8AF-40F1-D117-6CD2-6621B3ED7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879" y="2449016"/>
            <a:ext cx="11378242" cy="453838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sz="2600" dirty="0"/>
              <a:t>High average ratings combined with sufficient volume indicate consistently well-received books.</a:t>
            </a:r>
          </a:p>
          <a:p>
            <a:pPr>
              <a:lnSpc>
                <a:spcPct val="160000"/>
              </a:lnSpc>
            </a:pPr>
            <a:r>
              <a:rPr lang="en-US" sz="2600" b="1" dirty="0"/>
              <a:t>“Harry Potter and the Chamber of Secrets” </a:t>
            </a:r>
            <a:r>
              <a:rPr lang="en-US" sz="2600" dirty="0"/>
              <a:t>,the 2nd installment in </a:t>
            </a:r>
            <a:r>
              <a:rPr lang="en-US" sz="2600" b="1" dirty="0"/>
              <a:t>The Harry Potter Series</a:t>
            </a:r>
            <a:r>
              <a:rPr lang="en-US" sz="2600" dirty="0"/>
              <a:t> by J.K. Rowling topped the list followed closely by Other entries from the same series.</a:t>
            </a:r>
          </a:p>
          <a:p>
            <a:pPr>
              <a:lnSpc>
                <a:spcPct val="160000"/>
              </a:lnSpc>
            </a:pPr>
            <a:r>
              <a:rPr lang="en-US" sz="2600" dirty="0"/>
              <a:t>Titles from </a:t>
            </a:r>
            <a:r>
              <a:rPr lang="en-US" sz="2600" b="1" dirty="0"/>
              <a:t>The Harry Potter Series </a:t>
            </a:r>
            <a:r>
              <a:rPr lang="en-US" sz="2600" dirty="0"/>
              <a:t>and </a:t>
            </a:r>
            <a:r>
              <a:rPr lang="en-US" sz="2600" b="1" dirty="0"/>
              <a:t>LoTR(The Lord of The Rings) </a:t>
            </a:r>
            <a:r>
              <a:rPr lang="en-US" sz="2600" dirty="0"/>
              <a:t>lore scored sufficiently high both in terms of volume as well as ratings.</a:t>
            </a:r>
          </a:p>
          <a:p>
            <a:pPr>
              <a:lnSpc>
                <a:spcPct val="160000"/>
              </a:lnSpc>
            </a:pPr>
            <a:r>
              <a:rPr lang="en-US" sz="2600" dirty="0"/>
              <a:t>These indicate the predominance of popular franchises and fantasy fiction genre among Readers.</a:t>
            </a:r>
            <a:endParaRPr lang="en-IN" sz="2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325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A575-D6A6-5253-FBF3-4CCA4366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10 Most Popular Classics/Older Titles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8967236-1DE2-3ED0-AFA1-84AC1E2246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772007"/>
              </p:ext>
            </p:extLst>
          </p:nvPr>
        </p:nvGraphicFramePr>
        <p:xfrm>
          <a:off x="879894" y="2362680"/>
          <a:ext cx="10386203" cy="4079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50038">
                  <a:extLst>
                    <a:ext uri="{9D8B030D-6E8A-4147-A177-3AD203B41FA5}">
                      <a16:colId xmlns:a16="http://schemas.microsoft.com/office/drawing/2014/main" val="2815522838"/>
                    </a:ext>
                  </a:extLst>
                </a:gridCol>
                <a:gridCol w="2536165">
                  <a:extLst>
                    <a:ext uri="{9D8B030D-6E8A-4147-A177-3AD203B41FA5}">
                      <a16:colId xmlns:a16="http://schemas.microsoft.com/office/drawing/2014/main" val="2408014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Book/Title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Year 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46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728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Clue of the Leaning Chimney (Nancy Drew (Hardcover))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76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RAMONA THE PEST (Ramona Quimby (Paperback))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67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Stuart Little 60th Anniversary Edition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602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Clue in the Crumbling Wall (Nancy Drew Mystery Stories, No 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29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Farewell to 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94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Animal Farm (Bridge)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27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Manifesto of the Communist Party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44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Clue in the Old Album (Nancy Drew Mystery Stories, No 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65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Gone With the 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211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685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82C6A-BB95-D519-9AAB-0F3A5D5F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Classics &amp; Older Titles (Highest Average Rating)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BE85F3AC-91A7-8A70-20EC-799D5E1DC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553652"/>
              </p:ext>
            </p:extLst>
          </p:nvPr>
        </p:nvGraphicFramePr>
        <p:xfrm>
          <a:off x="600748" y="2199736"/>
          <a:ext cx="10990503" cy="4399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6399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02C9-5846-0E34-E19D-1A2B1452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Classics &amp; Older Titles (Highest Average Rating)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64385A4-EDF8-0EE0-2623-853E13C6F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248455"/>
              </p:ext>
            </p:extLst>
          </p:nvPr>
        </p:nvGraphicFramePr>
        <p:xfrm>
          <a:off x="587809" y="2208362"/>
          <a:ext cx="11016382" cy="4399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779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284A-50E4-CE2C-3B89-09A7A760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Classic Books Still Resonate?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9D50F3-ED29-5C79-B72F-F8FB1E7F4C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536225"/>
              </p:ext>
            </p:extLst>
          </p:nvPr>
        </p:nvGraphicFramePr>
        <p:xfrm>
          <a:off x="1699407" y="2665081"/>
          <a:ext cx="8793186" cy="152783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705969">
                  <a:extLst>
                    <a:ext uri="{9D8B030D-6E8A-4147-A177-3AD203B41FA5}">
                      <a16:colId xmlns:a16="http://schemas.microsoft.com/office/drawing/2014/main" val="4077144160"/>
                    </a:ext>
                  </a:extLst>
                </a:gridCol>
                <a:gridCol w="2166218">
                  <a:extLst>
                    <a:ext uri="{9D8B030D-6E8A-4147-A177-3AD203B41FA5}">
                      <a16:colId xmlns:a16="http://schemas.microsoft.com/office/drawing/2014/main" val="1540969217"/>
                    </a:ext>
                  </a:extLst>
                </a:gridCol>
                <a:gridCol w="2920999">
                  <a:extLst>
                    <a:ext uri="{9D8B030D-6E8A-4147-A177-3AD203B41FA5}">
                      <a16:colId xmlns:a16="http://schemas.microsoft.com/office/drawing/2014/main" val="386932966"/>
                    </a:ext>
                  </a:extLst>
                </a:gridCol>
              </a:tblGrid>
              <a:tr h="50927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Book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Average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Number Of Ratings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55845"/>
                  </a:ext>
                </a:extLst>
              </a:tr>
              <a:tr h="50927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Modern Titles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10,30,852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46575"/>
                  </a:ext>
                </a:extLst>
              </a:tr>
              <a:tr h="50927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Classics &amp; Older Titles (Pre-1950s)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964518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3E8AAF-29CD-9CFC-E1A0-27D07BED9EEF}"/>
              </a:ext>
            </a:extLst>
          </p:cNvPr>
          <p:cNvSpPr txBox="1">
            <a:spLocks/>
          </p:cNvSpPr>
          <p:nvPr/>
        </p:nvSpPr>
        <p:spPr>
          <a:xfrm>
            <a:off x="813758" y="4651868"/>
            <a:ext cx="11378242" cy="14529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/>
              <a:t>Historical books maintain respectable average ratings but attract significantly fewer user ratings.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Classics have not disappeared or aged badly but there is very little User data /Ratings to conclude properly.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814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9725-A69E-4B85-20BF-B694DEF8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Publisher Performance – Top 10 Publishing Houses</a:t>
            </a:r>
            <a:br>
              <a:rPr lang="en-IN" sz="2800" dirty="0"/>
            </a:br>
            <a:r>
              <a:rPr lang="en-IN" sz="2800" dirty="0"/>
              <a:t>(Quality + Engagement)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B290E-174F-74D9-D61D-7422AB97A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69" y="2354125"/>
            <a:ext cx="9613861" cy="4150192"/>
          </a:xfrm>
        </p:spPr>
        <p:txBody>
          <a:bodyPr>
            <a:noAutofit/>
          </a:bodyPr>
          <a:lstStyle/>
          <a:p>
            <a:r>
              <a:rPr lang="en-IN" sz="2000" dirty="0"/>
              <a:t>Tokyopop</a:t>
            </a:r>
          </a:p>
          <a:p>
            <a:r>
              <a:rPr lang="en-IN" sz="2000" dirty="0"/>
              <a:t>DC Comics</a:t>
            </a:r>
          </a:p>
          <a:p>
            <a:r>
              <a:rPr lang="en-IN" sz="2000" dirty="0"/>
              <a:t>Arthur A. Levine Books</a:t>
            </a:r>
          </a:p>
          <a:p>
            <a:r>
              <a:rPr lang="en-IN" sz="2000" dirty="0"/>
              <a:t>Andrews McMeel Publishing</a:t>
            </a:r>
          </a:p>
          <a:p>
            <a:r>
              <a:rPr lang="en-IN" sz="2000" dirty="0"/>
              <a:t>O'Reilly</a:t>
            </a:r>
          </a:p>
          <a:p>
            <a:r>
              <a:rPr lang="en-IN" sz="2000" dirty="0"/>
              <a:t>Lonely Planet Publications</a:t>
            </a:r>
          </a:p>
          <a:p>
            <a:r>
              <a:rPr lang="en-IN" sz="2000" dirty="0" err="1"/>
              <a:t>Distribooks</a:t>
            </a:r>
            <a:endParaRPr lang="en-IN" sz="2000" dirty="0"/>
          </a:p>
          <a:p>
            <a:r>
              <a:rPr lang="en-IN" sz="2000" dirty="0"/>
              <a:t>Chronicle Books</a:t>
            </a:r>
          </a:p>
          <a:p>
            <a:r>
              <a:rPr lang="en-IN" sz="2000" dirty="0"/>
              <a:t>Alianza</a:t>
            </a:r>
          </a:p>
          <a:p>
            <a:r>
              <a:rPr lang="en-IN" sz="2000" dirty="0"/>
              <a:t>Llewellyn Publications</a:t>
            </a:r>
          </a:p>
        </p:txBody>
      </p:sp>
    </p:spTree>
    <p:extLst>
      <p:ext uri="{BB962C8B-B14F-4D97-AF65-F5344CB8AC3E}">
        <p14:creationId xmlns:p14="http://schemas.microsoft.com/office/powerpoint/2010/main" val="4040128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8C70F-ED59-A99C-C47E-8A659E65B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Which Publishers consistently deliver high-rated books?</a:t>
            </a:r>
            <a:endParaRPr lang="en-IN" sz="2800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0CDD8CB-08E4-F4B9-FD58-AECFD47D28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6712672"/>
              </p:ext>
            </p:extLst>
          </p:nvPr>
        </p:nvGraphicFramePr>
        <p:xfrm>
          <a:off x="680321" y="2097157"/>
          <a:ext cx="10839131" cy="4467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5548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9500-FF1B-E5D0-280E-8519C893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Reading Behavior Varies by Age Group</a:t>
            </a:r>
            <a:br>
              <a:rPr lang="en-US" dirty="0"/>
            </a:br>
            <a:r>
              <a:rPr lang="en-US" dirty="0"/>
              <a:t>(Volume)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B3CD696-E696-69D2-DC02-A8CF70CFD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3312887"/>
              </p:ext>
            </p:extLst>
          </p:nvPr>
        </p:nvGraphicFramePr>
        <p:xfrm>
          <a:off x="1112320" y="2251494"/>
          <a:ext cx="9613900" cy="4175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4144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CC39B-DD2D-0A28-D073-101997E5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Reading Behavior Varies by Age Group</a:t>
            </a:r>
            <a:br>
              <a:rPr lang="en-US" dirty="0"/>
            </a:br>
            <a:r>
              <a:rPr lang="en-US" dirty="0"/>
              <a:t>(Quality)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312A12C-2599-6BC1-EF3F-8E4EB3CC1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113133"/>
              </p:ext>
            </p:extLst>
          </p:nvPr>
        </p:nvGraphicFramePr>
        <p:xfrm>
          <a:off x="1289050" y="2234243"/>
          <a:ext cx="9613900" cy="42528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9754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224C-BCB9-06E3-8DAF-DA6A872B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 Group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9825-EDE9-62F5-EFDA-D1361723D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69" y="2505456"/>
            <a:ext cx="9613861" cy="3599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Middle-age groups contribute the largest share of ratings (Volume Wise).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26-35 Years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36-50 Years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While sentiment remains relatively stable across ages.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Younger Age Groups tended to rate titles relatively higher compared to their older counterparts.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But rating trends remained largely similar across age groups.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50768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2BCFA-7162-0962-6791-C1FE106E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&amp;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BA0D8-8B1F-77E1-8801-7B91DD7C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69" y="2578413"/>
            <a:ext cx="9613861" cy="359931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Engagement is concentrated in a few major countries.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Popularity/Higher Engagement and quality/Higher Ratings are distinct dimensions.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Popular franchises and Fantasy Fiction genre bring higher engagement as well as higher ratings.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Classics/Older Titles are respected but under-engaged.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Age impacts engagement volume more than sentiment and Rating trends were largely same across diverse Age Groups.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10744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9117D-CE1F-1830-CC6A-4217C79E2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AC293-9320-A159-6BA6-C9D086FFB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69" y="2681930"/>
            <a:ext cx="9613861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6600" dirty="0"/>
          </a:p>
          <a:p>
            <a:pPr marL="0" indent="0" algn="ctr">
              <a:buNone/>
            </a:pPr>
            <a:r>
              <a:rPr lang="en-IN" sz="66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54745086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568</TotalTime>
  <Words>1196</Words>
  <Application>Microsoft Office PowerPoint</Application>
  <PresentationFormat>Widescreen</PresentationFormat>
  <Paragraphs>214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Trebuchet MS</vt:lpstr>
      <vt:lpstr>Berlin</vt:lpstr>
      <vt:lpstr>Book Ratings &amp;  User Behaviour Analysis</vt:lpstr>
      <vt:lpstr>Dataset Summary - Overall</vt:lpstr>
      <vt:lpstr>Dataset Summary – Key Dimensions (Users)</vt:lpstr>
      <vt:lpstr>Dataset Summary – Key Dimensions (Books)</vt:lpstr>
      <vt:lpstr>Dataset Summary – Key Dimensions (Ratings)</vt:lpstr>
      <vt:lpstr>Where are our Users located ?</vt:lpstr>
      <vt:lpstr>Top 10 Countries by User Engagement</vt:lpstr>
      <vt:lpstr>How Do Ratings Differ Across Countries?</vt:lpstr>
      <vt:lpstr>Top 10 Countries with Highest Average Rating</vt:lpstr>
      <vt:lpstr>Most Engaging Books</vt:lpstr>
      <vt:lpstr>Top 10 Engaging Titles by Volume of Ratings</vt:lpstr>
      <vt:lpstr>Books with Highest Rating (Quality + Volume)</vt:lpstr>
      <vt:lpstr>Books with Highest Rating (Quality + Volume)</vt:lpstr>
      <vt:lpstr>Books with Highest Rating (Quality + Volume)</vt:lpstr>
      <vt:lpstr>Popularity Insights</vt:lpstr>
      <vt:lpstr>Top 10 Most Popular Classics/Older Titles</vt:lpstr>
      <vt:lpstr>Classics &amp; Older Titles (Highest Average Rating)</vt:lpstr>
      <vt:lpstr>Classics &amp; Older Titles (Highest Average Rating)</vt:lpstr>
      <vt:lpstr>Do Classic Books Still Resonate?</vt:lpstr>
      <vt:lpstr>Publisher Performance – Top 10 Publishing Houses (Quality + Engagement)</vt:lpstr>
      <vt:lpstr>Which Publishers consistently deliver high-rated books?</vt:lpstr>
      <vt:lpstr>How Reading Behavior Varies by Age Group (Volume)</vt:lpstr>
      <vt:lpstr>How Reading Behavior Varies by Age Group (Quality)</vt:lpstr>
      <vt:lpstr>Age Group Insights</vt:lpstr>
      <vt:lpstr>Key Insights &amp; Conclusions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 _ನಾನು</dc:creator>
  <cp:lastModifiedBy>Krish _ನಾನು</cp:lastModifiedBy>
  <cp:revision>15</cp:revision>
  <dcterms:created xsi:type="dcterms:W3CDTF">2025-12-25T10:43:11Z</dcterms:created>
  <dcterms:modified xsi:type="dcterms:W3CDTF">2025-12-25T20:11:13Z</dcterms:modified>
</cp:coreProperties>
</file>